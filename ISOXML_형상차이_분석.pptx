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ISOXML 처방맵 외곽선 차이 — 원인 분석 및 개선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  <a:latin typeface="Malgun Gothic"/>
              </a:rPr>
              <a:t>SHP vs ISOXML 출력 형상 비교 · ISO 11783-10 GRID 표준 제약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7432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5F2D"/>
                </a:solidFill>
                <a:latin typeface="Malgun Gothic"/>
              </a:rPr>
              <a:t>SHP (Shapefile) — 폴리곤 기반</a:t>
            </a:r>
          </a:p>
        </p:txBody>
      </p:sp>
      <p:pic>
        <p:nvPicPr>
          <p:cNvPr id="7" name="Picture 6" descr="_sh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011680" cy="2398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2918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12529"/>
                </a:solidFill>
                <a:latin typeface="Malgun Gothic"/>
              </a:rPr>
              <a:t>회전 셀의 꼭짓점 좌표를 그대로 저장</a:t>
            </a:r>
          </a:p>
          <a:p>
            <a:pPr algn="l"/>
            <a:r>
              <a:rPr sz="1050" b="0">
                <a:solidFill>
                  <a:srgbClr val="212529"/>
                </a:solidFill>
                <a:latin typeface="Malgun Gothic"/>
              </a:rPr>
              <a:t>→ 필지 방향대로 깔끔한 외곽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97BC62"/>
                </a:solidFill>
                <a:latin typeface="Malgun Gothic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25880"/>
            <a:ext cx="27432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5F2D"/>
                </a:solidFill>
                <a:latin typeface="Malgun Gothic"/>
              </a:rPr>
              <a:t>ISOXML (GRD .bin) — 래스터 기반</a:t>
            </a:r>
          </a:p>
        </p:txBody>
      </p:sp>
      <p:pic>
        <p:nvPicPr>
          <p:cNvPr id="12" name="Picture 11" descr="_iso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28800"/>
            <a:ext cx="2011680" cy="23983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80" y="32918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12529"/>
                </a:solidFill>
                <a:latin typeface="Malgun Gothic"/>
              </a:rPr>
              <a:t>WGS84 축에 평행한 고정 격자만 허용</a:t>
            </a:r>
          </a:p>
          <a:p>
            <a:pPr algn="l"/>
            <a:r>
              <a:rPr sz="1050" b="0">
                <a:solidFill>
                  <a:srgbClr val="212529"/>
                </a:solidFill>
                <a:latin typeface="Malgun Gothic"/>
              </a:rPr>
              <a:t>→ 회전 경계가 계단형으로 표현됨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25880"/>
            <a:ext cx="4602175" cy="2468880"/>
          </a:xfrm>
          <a:prstGeom prst="rect">
            <a:avLst/>
          </a:prstGeom>
          <a:solidFill>
            <a:srgbClr val="F8FAF5"/>
          </a:solidFill>
          <a:ln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463040"/>
            <a:ext cx="4144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Malgun Gothic"/>
              </a:rPr>
              <a:t>근본 원인 — ISO 11783-10 표준 제약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2024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7BC62"/>
                </a:solidFill>
                <a:latin typeface="Malgun Gothic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920240"/>
            <a:ext cx="3824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Malgun Gothic"/>
              </a:rPr>
              <a:t>GRD 포맷은 WGS84 위·경도 축 평행 격자만 지원 (회전 불가)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46888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7BC62"/>
                </a:solidFill>
                <a:latin typeface="Malgun Gothic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468880"/>
            <a:ext cx="3824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Malgun Gothic"/>
              </a:rPr>
              <a:t>회전된 그리드 폴리곤 → 1m 정사각 픽셀로 래스터화 → 계단형 외곽 발생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017520"/>
            <a:ext cx="320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7BC62"/>
                </a:solidFill>
                <a:latin typeface="Malgun Gothi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017520"/>
            <a:ext cx="3824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Malgun Gothic"/>
              </a:rPr>
              <a:t>EPSG:5179 → EPSG:4326 재투영 (Nearest) 과정에서 추가 어긋남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11277295" cy="594360"/>
          </a:xfrm>
          <a:prstGeom prst="rect">
            <a:avLst/>
          </a:prstGeom>
          <a:solidFill>
            <a:srgbClr val="FFF7E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23359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  <a:latin typeface="Malgun Gothic"/>
              </a:rPr>
              <a:t>⚠  화면상 형상 차이일 뿐 — 트랙터는 GPS 위치별 픽셀값을 그대로 적용하므로 실제 살포 정확도는 동일 (1m 해상도 기준)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3749039" cy="1828800"/>
          </a:xfrm>
          <a:prstGeom prst="rect">
            <a:avLst/>
          </a:prstGeom>
          <a:solidFill>
            <a:srgbClr val="F0F8EB"/>
          </a:solidFill>
          <a:ln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5F2D"/>
                </a:solidFill>
                <a:latin typeface="Malgun Gothic"/>
              </a:rPr>
              <a:t>방안 A · 권장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529"/>
                </a:solidFill>
                <a:latin typeface="Malgun Gothic"/>
              </a:rPr>
              <a:t>pixel_size 축소  1.0m → 0.5m 또는 0.25m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  <a:latin typeface="Malgun Gothic"/>
              </a:rPr>
              <a:t>장점: 외곽선 부드러움</a:t>
            </a:r>
          </a:p>
          <a:p>
            <a:pPr algn="l"/>
            <a:r>
              <a:rPr sz="1000" b="0">
                <a:solidFill>
                  <a:srgbClr val="212529"/>
                </a:solidFill>
                <a:latin typeface="Malgun Gothic"/>
              </a:rPr>
              <a:t>단점: 파일 크기 4~16배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4754880"/>
            <a:ext cx="3749039" cy="1828800"/>
          </a:xfrm>
          <a:prstGeom prst="rect">
            <a:avLst/>
          </a:prstGeom>
          <a:solidFill>
            <a:srgbClr val="FAFAFA"/>
          </a:solidFill>
          <a:ln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489204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C757D"/>
                </a:solidFill>
                <a:latin typeface="Malgun Gothic"/>
              </a:rPr>
              <a:t>방안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52578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529"/>
                </a:solidFill>
                <a:latin typeface="Malgun Gothic"/>
              </a:rPr>
              <a:t>리샘플링 방식 변경  Nearest → Bilinear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5760720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  <a:latin typeface="Malgun Gothic"/>
              </a:rPr>
              <a:t>장점: 경계 부드러움</a:t>
            </a:r>
          </a:p>
          <a:p>
            <a:pPr algn="l"/>
            <a:r>
              <a:rPr sz="1000" b="0">
                <a:solidFill>
                  <a:srgbClr val="212529"/>
                </a:solidFill>
                <a:latin typeface="Malgun Gothic"/>
              </a:rPr>
              <a:t>단점: 처방값 보간 → 등급 처방엔 부적합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58" y="4754880"/>
            <a:ext cx="3749039" cy="1828800"/>
          </a:xfrm>
          <a:prstGeom prst="rect">
            <a:avLst/>
          </a:prstGeom>
          <a:solidFill>
            <a:srgbClr val="FAFAFA"/>
          </a:solidFill>
          <a:ln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38" y="489204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C757D"/>
                </a:solidFill>
                <a:latin typeface="Malgun Gothic"/>
              </a:rPr>
              <a:t>방안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52578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529"/>
                </a:solidFill>
                <a:latin typeface="Malgun Gothic"/>
              </a:rPr>
              <a:t>현 상태 유지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5760720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  <a:latin typeface="Malgun Gothic"/>
              </a:rPr>
              <a:t>변경 없음 — 시각적으로만 거칠 뿐</a:t>
            </a:r>
          </a:p>
          <a:p>
            <a:pPr algn="l"/>
            <a:r>
              <a:rPr sz="1000" b="0">
                <a:solidFill>
                  <a:srgbClr val="212529"/>
                </a:solidFill>
                <a:latin typeface="Malgun Gothic"/>
              </a:rPr>
              <a:t>살포 정확도 동일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